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2" r:id="rId5"/>
    <p:sldId id="260" r:id="rId6"/>
    <p:sldId id="277" r:id="rId7"/>
    <p:sldId id="278" r:id="rId8"/>
    <p:sldId id="279" r:id="rId9"/>
    <p:sldId id="257" r:id="rId10"/>
  </p:sldIdLst>
  <p:sldSz cx="18288000" cy="10287000"/>
  <p:notesSz cx="6858000" cy="9144000"/>
  <p:embeddedFontLst>
    <p:embeddedFont>
      <p:font typeface="Inter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qZZf3mZN12E4cdb0nSYpWW4Cs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4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705FEE-54E1-4A28-B4D9-26DDC600943D}">
  <a:tblStyle styleId="{BB705FEE-54E1-4A28-B4D9-26DDC60094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327742dfb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22327742dfb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3682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5459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8563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143500"/>
            <a:ext cx="18287996" cy="5143500"/>
          </a:xfrm>
          <a:custGeom>
            <a:avLst/>
            <a:gdLst/>
            <a:ahLst/>
            <a:cxnLst/>
            <a:rect l="l" t="t" r="r" b="b"/>
            <a:pathLst>
              <a:path w="4816592" h="1354667" extrusionOk="0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3190808" y="6319939"/>
            <a:ext cx="4684061" cy="182308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1350721" y="9675551"/>
            <a:ext cx="4721482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987818" y="9675551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7689221" y="568043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292027" y="6319939"/>
            <a:ext cx="1608784" cy="182306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0171345" y="6247609"/>
            <a:ext cx="3086098" cy="3158414"/>
            <a:chOff x="0" y="-19050"/>
            <a:chExt cx="812800" cy="83185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23713" cy="48015"/>
            </a:xfrm>
            <a:custGeom>
              <a:avLst/>
              <a:gdLst/>
              <a:ahLst/>
              <a:cxnLst/>
              <a:rect l="l" t="t" r="r" b="b"/>
              <a:pathLst>
                <a:path w="423713" h="48015" extrusionOk="0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l="3909" r="38092" b="43790"/>
          <a:stretch/>
        </p:blipFill>
        <p:spPr>
          <a:xfrm>
            <a:off x="-2852962" y="-510309"/>
            <a:ext cx="10606874" cy="5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8139720" y="9675549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5286314" y="568043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830280" y="-654766"/>
            <a:ext cx="8747612" cy="7268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1788862" y="6697946"/>
            <a:ext cx="17828981" cy="3489478"/>
            <a:chOff x="-6765293" y="-510081"/>
            <a:chExt cx="23553854" cy="4633651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-6765293" y="339117"/>
              <a:ext cx="19433730" cy="3784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6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63"/>
                <a:buFont typeface="Arial"/>
                <a:buNone/>
              </a:pPr>
              <a:r>
                <a:rPr lang="en-US" sz="13463" b="1" i="0" u="none" strike="noStrike" cap="none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AIR POLLUTION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2484339" y="-510081"/>
              <a:ext cx="14304222" cy="1396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rPr lang="mk-MK" sz="3200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Изработиле</a:t>
              </a:r>
            </a:p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rPr lang="mk-MK" sz="2400" b="1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Ангел Блажевски и Стефан Велков</a:t>
              </a:r>
              <a:r>
                <a:rPr lang="mk-MK" sz="1000" dirty="0">
                  <a:ea typeface="Inter"/>
                </a:rPr>
                <a:t> </a:t>
              </a:r>
              <a:endParaRPr lang="mk-MK" sz="2400" b="1" dirty="0">
                <a:solidFill>
                  <a:srgbClr val="FFFFFF"/>
                </a:solidFill>
                <a:latin typeface="Inter"/>
                <a:ea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2327742dfb_3_19"/>
          <p:cNvPicPr preferRelativeResize="0"/>
          <p:nvPr/>
        </p:nvPicPr>
        <p:blipFill rotWithShape="1">
          <a:blip r:embed="rId3">
            <a:alphaModFix/>
          </a:blip>
          <a:srcRect l="36354" t="36280" r="49166" b="7120"/>
          <a:stretch/>
        </p:blipFill>
        <p:spPr>
          <a:xfrm>
            <a:off x="1081000" y="3599775"/>
            <a:ext cx="2647951" cy="582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2327742dfb_3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7049" y="3123383"/>
            <a:ext cx="1736849" cy="52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2327742dfb_3_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4437" y="6305221"/>
            <a:ext cx="1503139" cy="270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2327742dfb_3_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1524" y="3599785"/>
            <a:ext cx="1640861" cy="5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2327742dfb_3_19"/>
          <p:cNvSpPr txBox="1"/>
          <p:nvPr/>
        </p:nvSpPr>
        <p:spPr>
          <a:xfrm>
            <a:off x="3130594" y="1090359"/>
            <a:ext cx="12026700" cy="153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mk-MK" sz="7300" b="1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Содржина</a:t>
            </a:r>
            <a:r>
              <a:rPr lang="en-US" sz="73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g22327742dfb_3_19"/>
          <p:cNvGrpSpPr/>
          <p:nvPr/>
        </p:nvGrpSpPr>
        <p:grpSpPr>
          <a:xfrm>
            <a:off x="9297884" y="3400790"/>
            <a:ext cx="8594366" cy="6021408"/>
            <a:chOff x="9312633" y="3096650"/>
            <a:chExt cx="8594366" cy="6220395"/>
          </a:xfrm>
        </p:grpSpPr>
        <p:grpSp>
          <p:nvGrpSpPr>
            <p:cNvPr id="126" name="Google Shape;126;g22327742dfb_3_19"/>
            <p:cNvGrpSpPr/>
            <p:nvPr/>
          </p:nvGrpSpPr>
          <p:grpSpPr>
            <a:xfrm>
              <a:off x="9312633" y="3192957"/>
              <a:ext cx="8594366" cy="6124088"/>
              <a:chOff x="0" y="-57150"/>
              <a:chExt cx="2263522" cy="1612918"/>
            </a:xfrm>
          </p:grpSpPr>
          <p:sp>
            <p:nvSpPr>
              <p:cNvPr id="127" name="Google Shape;127;g22327742dfb_3_19"/>
              <p:cNvSpPr/>
              <p:nvPr/>
            </p:nvSpPr>
            <p:spPr>
              <a:xfrm>
                <a:off x="0" y="-23079"/>
                <a:ext cx="2263522" cy="1578847"/>
              </a:xfrm>
              <a:custGeom>
                <a:avLst/>
                <a:gdLst/>
                <a:ahLst/>
                <a:cxnLst/>
                <a:rect l="l" t="t" r="r" b="b"/>
                <a:pathLst>
                  <a:path w="2028166" h="1555768" extrusionOk="0">
                    <a:moveTo>
                      <a:pt x="26139" y="0"/>
                    </a:moveTo>
                    <a:lnTo>
                      <a:pt x="2002027" y="0"/>
                    </a:lnTo>
                    <a:cubicBezTo>
                      <a:pt x="2008960" y="0"/>
                      <a:pt x="2015608" y="2754"/>
                      <a:pt x="2020510" y="7656"/>
                    </a:cubicBezTo>
                    <a:cubicBezTo>
                      <a:pt x="2025412" y="12558"/>
                      <a:pt x="2028166" y="19207"/>
                      <a:pt x="2028166" y="26139"/>
                    </a:cubicBezTo>
                    <a:lnTo>
                      <a:pt x="2028166" y="1529628"/>
                    </a:lnTo>
                    <a:cubicBezTo>
                      <a:pt x="2028166" y="1536561"/>
                      <a:pt x="2025412" y="1543209"/>
                      <a:pt x="2020510" y="1548112"/>
                    </a:cubicBezTo>
                    <a:cubicBezTo>
                      <a:pt x="2015608" y="1553014"/>
                      <a:pt x="2008960" y="1555768"/>
                      <a:pt x="2002027" y="1555768"/>
                    </a:cubicBezTo>
                    <a:lnTo>
                      <a:pt x="26139" y="1555768"/>
                    </a:lnTo>
                    <a:cubicBezTo>
                      <a:pt x="19207" y="1555768"/>
                      <a:pt x="12558" y="1553014"/>
                      <a:pt x="7656" y="1548112"/>
                    </a:cubicBezTo>
                    <a:cubicBezTo>
                      <a:pt x="2754" y="1543209"/>
                      <a:pt x="0" y="1536561"/>
                      <a:pt x="0" y="1529628"/>
                    </a:cubicBezTo>
                    <a:lnTo>
                      <a:pt x="0" y="26139"/>
                    </a:lnTo>
                    <a:cubicBezTo>
                      <a:pt x="0" y="19207"/>
                      <a:pt x="2754" y="12558"/>
                      <a:pt x="7656" y="7656"/>
                    </a:cubicBezTo>
                    <a:cubicBezTo>
                      <a:pt x="12558" y="2754"/>
                      <a:pt x="19207" y="0"/>
                      <a:pt x="26139" y="0"/>
                    </a:cubicBezTo>
                    <a:close/>
                  </a:path>
                </a:pathLst>
              </a:custGeom>
              <a:solidFill>
                <a:srgbClr val="6980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g22327742dfb_3_19"/>
              <p:cNvSpPr txBox="1"/>
              <p:nvPr/>
            </p:nvSpPr>
            <p:spPr>
              <a:xfrm>
                <a:off x="0" y="-57150"/>
                <a:ext cx="812700" cy="8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8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g22327742dfb_3_19"/>
            <p:cNvSpPr txBox="1"/>
            <p:nvPr/>
          </p:nvSpPr>
          <p:spPr>
            <a:xfrm>
              <a:off x="10331443" y="3096650"/>
              <a:ext cx="7575556" cy="5347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mk-MK" sz="3475" b="1" dirty="0">
                  <a:solidFill>
                    <a:srgbClr val="9EEFBC"/>
                  </a:solidFill>
                  <a:latin typeface="Inter"/>
                  <a:ea typeface="Inter"/>
                  <a:sym typeface="Inter"/>
                </a:rPr>
                <a:t>Проблем и мотив</a:t>
              </a: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mk-MK" sz="3475" b="1" i="0" u="none" strike="noStrike" cap="none" dirty="0">
                  <a:solidFill>
                    <a:srgbClr val="9EEFBC"/>
                  </a:solidFill>
                  <a:latin typeface="Inter"/>
                  <a:ea typeface="Inter"/>
                  <a:cs typeface="Arial"/>
                  <a:sym typeface="Inter"/>
                </a:rPr>
                <a:t>Кориснички интерфеј</a:t>
              </a:r>
              <a:r>
                <a:rPr lang="mk-MK" sz="3475" b="1" dirty="0">
                  <a:solidFill>
                    <a:srgbClr val="9EEFBC"/>
                  </a:solidFill>
                  <a:latin typeface="Inter"/>
                  <a:ea typeface="Inter"/>
                  <a:sym typeface="Inter"/>
                </a:rPr>
                <a:t>с</a:t>
              </a: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mk-MK" sz="3475" b="1" i="0" u="none" strike="noStrike" cap="none" dirty="0">
                  <a:solidFill>
                    <a:srgbClr val="9EEFBC"/>
                  </a:solidFill>
                  <a:latin typeface="Inter"/>
                  <a:ea typeface="Inter"/>
                  <a:cs typeface="Arial"/>
                  <a:sym typeface="Inter"/>
                </a:rPr>
                <a:t>Интерактивна мапа</a:t>
              </a: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dirty="0">
                  <a:solidFill>
                    <a:srgbClr val="9EEFBC"/>
                  </a:solidFill>
                  <a:latin typeface="Inter"/>
                  <a:ea typeface="Inter"/>
                  <a:sym typeface="Inter"/>
                </a:rPr>
                <a:t>Dashboard (User experience)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mk-MK" sz="3475" b="1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Користени технологии</a:t>
              </a:r>
              <a:r>
                <a:rPr lang="en-US" sz="3475" b="1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mk-MK" sz="3475" b="1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и ресурси</a:t>
              </a:r>
              <a:endParaRPr lang="mk-MK" sz="3475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" name="Google Shape;130;g22327742dfb_3_19"/>
            <p:cNvSpPr txBox="1"/>
            <p:nvPr/>
          </p:nvSpPr>
          <p:spPr>
            <a:xfrm>
              <a:off x="9513638" y="3123384"/>
              <a:ext cx="616800" cy="5778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r>
                <a:rPr lang="en-US" sz="3475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t="47615" b="10149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216984" y="235842"/>
            <a:ext cx="5933856" cy="394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en-US" sz="7300" b="1" dirty="0">
                <a:solidFill>
                  <a:srgbClr val="9EEFBC"/>
                </a:solidFill>
                <a:latin typeface="Inter"/>
                <a:ea typeface="Inter"/>
                <a:sym typeface="Inter"/>
              </a:rPr>
              <a:t> Air Pollution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en-US" sz="7300" b="1" dirty="0">
                <a:solidFill>
                  <a:srgbClr val="9EEFBC"/>
                </a:solidFill>
                <a:latin typeface="Inter"/>
                <a:ea typeface="Inter"/>
                <a:sym typeface="Inter"/>
              </a:rPr>
              <a:t>Visualization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en-US" sz="7300" b="1" dirty="0">
                <a:solidFill>
                  <a:srgbClr val="9EEFBC"/>
                </a:solidFill>
                <a:latin typeface="Inter"/>
                <a:ea typeface="Inter"/>
                <a:sym typeface="Inter"/>
              </a:rPr>
              <a:t>Application</a:t>
            </a: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6441164"/>
            <a:ext cx="8692019" cy="518903"/>
          </a:xfrm>
          <a:custGeom>
            <a:avLst/>
            <a:gdLst/>
            <a:ahLst/>
            <a:cxnLst/>
            <a:rect l="l" t="t" r="r" b="b"/>
            <a:pathLst>
              <a:path w="2289256" h="136666" extrusionOk="0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138" name="Google Shape;138;p4"/>
          <p:cNvGrpSpPr/>
          <p:nvPr/>
        </p:nvGrpSpPr>
        <p:grpSpPr>
          <a:xfrm>
            <a:off x="0" y="6882696"/>
            <a:ext cx="7859961" cy="3303087"/>
            <a:chOff x="0" y="-57150"/>
            <a:chExt cx="2070113" cy="86995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2070113" cy="136666"/>
            </a:xfrm>
            <a:custGeom>
              <a:avLst/>
              <a:gdLst/>
              <a:ahLst/>
              <a:cxnLst/>
              <a:rect l="l" t="t" r="r" b="b"/>
              <a:pathLst>
                <a:path w="2070113" h="136666" extrusionOk="0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140" name="Google Shape;140;p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875488" y="6311757"/>
            <a:ext cx="7347000" cy="134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1" i="0" u="none" strike="noStrike" cap="none" dirty="0">
                <a:solidFill>
                  <a:srgbClr val="14288F"/>
                </a:solidFill>
                <a:latin typeface="Inter"/>
                <a:ea typeface="Inter"/>
                <a:cs typeface="Inter"/>
                <a:sym typeface="Inter"/>
              </a:rPr>
              <a:t>Анализа и визуелизација на PM10 и PM2.5 честички во реално време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l="3909" r="38092" b="44826"/>
          <a:stretch/>
        </p:blipFill>
        <p:spPr>
          <a:xfrm>
            <a:off x="-3809275" y="-698525"/>
            <a:ext cx="11720474" cy="6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4">
            <a:alphaModFix/>
          </a:blip>
          <a:srcRect l="3909" r="38092" b="44826"/>
          <a:stretch/>
        </p:blipFill>
        <p:spPr>
          <a:xfrm rot="10800000">
            <a:off x="10528002" y="6107001"/>
            <a:ext cx="10685773" cy="57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7695932" y="3629305"/>
            <a:ext cx="2896111" cy="2909092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noFill/>
          <a:ln w="104775" cap="flat" cmpd="sng">
            <a:solidFill>
              <a:srgbClr val="9EEF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7"/>
          <p:cNvGrpSpPr/>
          <p:nvPr/>
        </p:nvGrpSpPr>
        <p:grpSpPr>
          <a:xfrm>
            <a:off x="1892998" y="3629305"/>
            <a:ext cx="2896133" cy="2909114"/>
            <a:chOff x="1813" y="0"/>
            <a:chExt cx="809173" cy="812800"/>
          </a:xfrm>
        </p:grpSpPr>
        <p:sp>
          <p:nvSpPr>
            <p:cNvPr id="177" name="Google Shape;177;p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9EEF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3498866" y="3629305"/>
            <a:ext cx="2896133" cy="2909114"/>
            <a:chOff x="1813" y="0"/>
            <a:chExt cx="809173" cy="812800"/>
          </a:xfrm>
        </p:grpSpPr>
        <p:sp>
          <p:nvSpPr>
            <p:cNvPr id="180" name="Google Shape;180;p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flat" cmpd="sng">
              <a:solidFill>
                <a:srgbClr val="9EEF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70516" y="4735412"/>
            <a:ext cx="1352836" cy="12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08636" y="4082372"/>
            <a:ext cx="937437" cy="530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00000">
            <a:off x="2983735" y="4961397"/>
            <a:ext cx="899290" cy="1099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4445942">
            <a:off x="2940273" y="3799524"/>
            <a:ext cx="396375" cy="123167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2253261" y="1188431"/>
            <a:ext cx="13781478" cy="14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mk-MK" sz="6999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Проблем и мотив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048988" y="7223424"/>
            <a:ext cx="4584151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Загадувањето во Скопје е критичен проблем.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2654863" y="7215835"/>
            <a:ext cx="5343577" cy="138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Потреба од алатка за споредба на различни локации во ист временски интервал.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789364" y="7223424"/>
            <a:ext cx="4991156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Суровите податоци од сензорите се тешки за разбирање за луѓето.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DCFB55-FD1F-F9A8-E7D5-CF7FD4584A0C}"/>
              </a:ext>
            </a:extLst>
          </p:cNvPr>
          <p:cNvCxnSpPr/>
          <p:nvPr/>
        </p:nvCxnSpPr>
        <p:spPr>
          <a:xfrm flipV="1">
            <a:off x="8374365" y="4357831"/>
            <a:ext cx="1478280" cy="14520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306EAA-4349-4C25-0014-EAE847CEBE99}"/>
              </a:ext>
            </a:extLst>
          </p:cNvPr>
          <p:cNvCxnSpPr>
            <a:cxnSpLocks/>
          </p:cNvCxnSpPr>
          <p:nvPr/>
        </p:nvCxnSpPr>
        <p:spPr>
          <a:xfrm>
            <a:off x="8481045" y="4357831"/>
            <a:ext cx="1371600" cy="14520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l="37602" t="9258" r="22145" b="7408"/>
          <a:stretch/>
        </p:blipFill>
        <p:spPr>
          <a:xfrm>
            <a:off x="11304075" y="876300"/>
            <a:ext cx="7424973" cy="864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7010734">
            <a:off x="8160023" y="3116405"/>
            <a:ext cx="2614950" cy="349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703682">
            <a:off x="5803429" y="307420"/>
            <a:ext cx="1356377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699999">
            <a:off x="152694" y="536295"/>
            <a:ext cx="3102674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1219200" y="6345378"/>
            <a:ext cx="9486450" cy="2471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mk-MK" sz="73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Преглед на апликацијата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3">
            <a:alphaModFix/>
          </a:blip>
          <a:srcRect t="30240"/>
          <a:stretch/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g22327742dfb_3_1">
            <a:extLst>
              <a:ext uri="{FF2B5EF4-FFF2-40B4-BE49-F238E27FC236}">
                <a16:creationId xmlns:a16="http://schemas.microsoft.com/office/drawing/2014/main" id="{99A7C91E-EB43-9E5E-BD33-7681D4B4918E}"/>
              </a:ext>
            </a:extLst>
          </p:cNvPr>
          <p:cNvSpPr txBox="1"/>
          <p:nvPr/>
        </p:nvSpPr>
        <p:spPr>
          <a:xfrm>
            <a:off x="5979450" y="1116075"/>
            <a:ext cx="6700230" cy="185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mk-MK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Кориснички интерфејс (</a:t>
            </a:r>
            <a:r>
              <a:rPr lang="en-US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UI)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5C40B-345E-B150-0936-106ACC30CCCE}"/>
              </a:ext>
            </a:extLst>
          </p:cNvPr>
          <p:cNvSpPr txBox="1"/>
          <p:nvPr/>
        </p:nvSpPr>
        <p:spPr>
          <a:xfrm>
            <a:off x="4145280" y="6616112"/>
            <a:ext cx="14142720" cy="2217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Dark Mode</a:t>
            </a:r>
            <a:r>
              <a:rPr lang="ru-RU" sz="3200" dirty="0">
                <a:solidFill>
                  <a:schemeClr val="bg1"/>
                </a:solidFill>
              </a:rPr>
              <a:t>: Модерен и чист дизајн.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 Layout</a:t>
            </a:r>
            <a:r>
              <a:rPr lang="ru-RU" sz="3200" dirty="0">
                <a:solidFill>
                  <a:schemeClr val="bg1"/>
                </a:solidFill>
              </a:rPr>
              <a:t>: Јасна поделба на филтри и статистика.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Responsive</a:t>
            </a:r>
            <a:r>
              <a:rPr lang="ru-RU" sz="3200" dirty="0">
                <a:solidFill>
                  <a:schemeClr val="bg1"/>
                </a:solidFill>
              </a:rPr>
              <a:t>: Целосно прилагодено за мобилни телефони.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55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3">
            <a:alphaModFix/>
          </a:blip>
          <a:srcRect t="30240"/>
          <a:stretch/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g22327742dfb_3_1">
            <a:extLst>
              <a:ext uri="{FF2B5EF4-FFF2-40B4-BE49-F238E27FC236}">
                <a16:creationId xmlns:a16="http://schemas.microsoft.com/office/drawing/2014/main" id="{99A7C91E-EB43-9E5E-BD33-7681D4B4918E}"/>
              </a:ext>
            </a:extLst>
          </p:cNvPr>
          <p:cNvSpPr txBox="1"/>
          <p:nvPr/>
        </p:nvSpPr>
        <p:spPr>
          <a:xfrm>
            <a:off x="5979450" y="1116075"/>
            <a:ext cx="6700230" cy="92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mk-MK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Интерактивна Мапа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5C40B-345E-B150-0936-106ACC30CCCE}"/>
              </a:ext>
            </a:extLst>
          </p:cNvPr>
          <p:cNvSpPr txBox="1"/>
          <p:nvPr/>
        </p:nvSpPr>
        <p:spPr>
          <a:xfrm>
            <a:off x="4145280" y="6616112"/>
            <a:ext cx="14142720" cy="2217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dirty="0">
                <a:solidFill>
                  <a:schemeClr val="bg1"/>
                </a:solidFill>
              </a:rPr>
              <a:t>Географски приказ на мерните сензори во Скопје.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dirty="0">
                <a:solidFill>
                  <a:schemeClr val="bg1"/>
                </a:solidFill>
              </a:rPr>
              <a:t>Автоматско вчитување податоци.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200" dirty="0">
                <a:solidFill>
                  <a:schemeClr val="bg1"/>
                </a:solidFill>
              </a:rPr>
              <a:t>Интеграција со Dashboard-от преку клик на сензор.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6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3">
            <a:alphaModFix/>
          </a:blip>
          <a:srcRect t="30240"/>
          <a:stretch/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g22327742dfb_3_1">
            <a:extLst>
              <a:ext uri="{FF2B5EF4-FFF2-40B4-BE49-F238E27FC236}">
                <a16:creationId xmlns:a16="http://schemas.microsoft.com/office/drawing/2014/main" id="{99A7C91E-EB43-9E5E-BD33-7681D4B4918E}"/>
              </a:ext>
            </a:extLst>
          </p:cNvPr>
          <p:cNvSpPr txBox="1"/>
          <p:nvPr/>
        </p:nvSpPr>
        <p:spPr>
          <a:xfrm>
            <a:off x="5979450" y="1116075"/>
            <a:ext cx="6700230" cy="185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mk-MK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Централен </a:t>
            </a:r>
            <a:r>
              <a:rPr lang="en-US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Dashboard (User Experience)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5C40B-345E-B150-0936-106ACC30CCCE}"/>
              </a:ext>
            </a:extLst>
          </p:cNvPr>
          <p:cNvSpPr txBox="1"/>
          <p:nvPr/>
        </p:nvSpPr>
        <p:spPr>
          <a:xfrm>
            <a:off x="581805" y="5033484"/>
            <a:ext cx="17495520" cy="5367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Интерактивни филтри</a:t>
            </a:r>
            <a:r>
              <a:rPr lang="ru-RU" sz="2800" dirty="0">
                <a:solidFill>
                  <a:schemeClr val="bg1"/>
                </a:solidFill>
              </a:rPr>
              <a:t>: Избор на тип на податоци (PM10 / PM2.5) и динамична промена на временската рамка (Дневно, Неделно, Месечно).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Multi-Sensor Selection</a:t>
            </a:r>
            <a:r>
              <a:rPr lang="ru-RU" sz="2800" dirty="0">
                <a:solidFill>
                  <a:schemeClr val="bg1"/>
                </a:solidFill>
              </a:rPr>
              <a:t>: Корисникот може да избере до 3 сензори истовремено за анализа на различни локации.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Динамички графици (ApexCharts): </a:t>
            </a:r>
            <a:r>
              <a:rPr lang="ru-RU" sz="2800" dirty="0">
                <a:solidFill>
                  <a:schemeClr val="bg1"/>
                </a:solidFill>
              </a:rPr>
              <a:t>Визуелизација на податоците во реално време со поддршка за зумирање при клик со глувчето врз соодветната алатка.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Статистички картички</a:t>
            </a:r>
            <a:r>
              <a:rPr lang="ru-RU" sz="2800" dirty="0">
                <a:solidFill>
                  <a:schemeClr val="bg1"/>
                </a:solidFill>
              </a:rPr>
              <a:t>: Брз приказ на максимални и минимални вредности врз основа на избраната временска рамка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2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3">
            <a:alphaModFix/>
          </a:blip>
          <a:srcRect t="30240"/>
          <a:stretch/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2327742dfb_3_1"/>
          <p:cNvGrpSpPr/>
          <p:nvPr/>
        </p:nvGrpSpPr>
        <p:grpSpPr>
          <a:xfrm>
            <a:off x="705586" y="5372657"/>
            <a:ext cx="6477750" cy="2431814"/>
            <a:chOff x="714220" y="-1296670"/>
            <a:chExt cx="8637000" cy="3242419"/>
          </a:xfrm>
        </p:grpSpPr>
        <p:sp>
          <p:nvSpPr>
            <p:cNvPr id="108" name="Google Shape;108;g22327742dfb_3_1"/>
            <p:cNvSpPr txBox="1"/>
            <p:nvPr/>
          </p:nvSpPr>
          <p:spPr>
            <a:xfrm>
              <a:off x="714220" y="-177910"/>
              <a:ext cx="8637000" cy="21236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HTML</a:t>
              </a:r>
              <a:r>
                <a:rPr lang="mk-MK" sz="2300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 – структура на апликацијата</a:t>
              </a:r>
            </a:p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CSS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стилови и визуелен дизајн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Java Script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логика и интеракција</a:t>
              </a:r>
              <a:endParaRPr lang="en-US" sz="23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9" name="Google Shape;109;g22327742dfb_3_1"/>
            <p:cNvSpPr txBox="1"/>
            <p:nvPr/>
          </p:nvSpPr>
          <p:spPr>
            <a:xfrm>
              <a:off x="714220" y="-1296670"/>
              <a:ext cx="6855000" cy="899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mk-MK" sz="3200" b="1" dirty="0">
                  <a:solidFill>
                    <a:srgbClr val="9EEFBC"/>
                  </a:solidFill>
                  <a:latin typeface="Inter"/>
                  <a:ea typeface="Inter"/>
                  <a:sym typeface="Inter"/>
                </a:rPr>
                <a:t>Основни технологии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g22327742dfb_3_1"/>
          <p:cNvGrpSpPr/>
          <p:nvPr/>
        </p:nvGrpSpPr>
        <p:grpSpPr>
          <a:xfrm>
            <a:off x="5905070" y="5372657"/>
            <a:ext cx="6477750" cy="5064635"/>
            <a:chOff x="0" y="-57150"/>
            <a:chExt cx="8637000" cy="6752845"/>
          </a:xfrm>
        </p:grpSpPr>
        <p:sp>
          <p:nvSpPr>
            <p:cNvPr id="111" name="Google Shape;111;g22327742dfb_3_1"/>
            <p:cNvSpPr txBox="1"/>
            <p:nvPr/>
          </p:nvSpPr>
          <p:spPr>
            <a:xfrm>
              <a:off x="0" y="1032607"/>
              <a:ext cx="8637000" cy="5663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ru-RU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ApexCharts.js: Главната библиотека за креирање на интерактивните и анимирани графици. Овозможува зумирање, преземање и споредба на повеќе серии податоци. </a:t>
              </a:r>
            </a:p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ru-RU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Leaflet.js: Интерактивна мапа за географски приказ на мерните сензори и навигација низ нив.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2327742dfb_3_1"/>
            <p:cNvSpPr txBox="1"/>
            <p:nvPr/>
          </p:nvSpPr>
          <p:spPr>
            <a:xfrm>
              <a:off x="990135" y="-57150"/>
              <a:ext cx="6855000" cy="899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mk-MK" sz="3200" b="1" i="0" u="none" strike="noStrike" cap="none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Визуелизација и мапа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g22327742dfb_3_1"/>
          <p:cNvGrpSpPr/>
          <p:nvPr/>
        </p:nvGrpSpPr>
        <p:grpSpPr>
          <a:xfrm>
            <a:off x="12108474" y="5372657"/>
            <a:ext cx="5884557" cy="5064635"/>
            <a:chOff x="101600" y="-57150"/>
            <a:chExt cx="7846076" cy="6752845"/>
          </a:xfrm>
        </p:grpSpPr>
        <p:sp>
          <p:nvSpPr>
            <p:cNvPr id="114" name="Google Shape;114;g22327742dfb_3_1"/>
            <p:cNvSpPr txBox="1"/>
            <p:nvPr/>
          </p:nvSpPr>
          <p:spPr>
            <a:xfrm>
              <a:off x="820955" y="1032607"/>
              <a:ext cx="7126721" cy="5663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Pulse</a:t>
              </a:r>
              <a:r>
                <a:rPr lang="en-US" sz="230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eco</a:t>
              </a: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REST API: 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Извор на реални податоци за загадувањето во Скопје. </a:t>
              </a:r>
            </a:p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Fetch API: 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За асинхроно преземање на податоците во </a:t>
              </a: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JSON 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формат. </a:t>
              </a:r>
            </a:p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Promise all: </a:t>
              </a:r>
              <a:r>
                <a:rPr lang="mk-MK" sz="2300" b="0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За паралелно вчитување податоци од повеќе сензори истовремено.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2327742dfb_3_1"/>
            <p:cNvSpPr txBox="1"/>
            <p:nvPr/>
          </p:nvSpPr>
          <p:spPr>
            <a:xfrm>
              <a:off x="101600" y="-57150"/>
              <a:ext cx="6855000" cy="899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mk-MK" sz="3200" b="1" i="0" u="none" strike="noStrike" cap="none" dirty="0">
                  <a:solidFill>
                    <a:srgbClr val="9EEFBC"/>
                  </a:solidFill>
                  <a:latin typeface="Inter"/>
                  <a:ea typeface="Inter"/>
                  <a:cs typeface="Inter"/>
                  <a:sym typeface="Inter"/>
                </a:rPr>
                <a:t>Податоци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112;g22327742dfb_3_1">
            <a:extLst>
              <a:ext uri="{FF2B5EF4-FFF2-40B4-BE49-F238E27FC236}">
                <a16:creationId xmlns:a16="http://schemas.microsoft.com/office/drawing/2014/main" id="{99A7C91E-EB43-9E5E-BD33-7681D4B4918E}"/>
              </a:ext>
            </a:extLst>
          </p:cNvPr>
          <p:cNvSpPr txBox="1"/>
          <p:nvPr/>
        </p:nvSpPr>
        <p:spPr>
          <a:xfrm>
            <a:off x="5979450" y="1116075"/>
            <a:ext cx="6700230" cy="185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mk-MK" sz="4400" b="1" i="0" u="none" strike="noStrike" cap="none" dirty="0">
                <a:solidFill>
                  <a:srgbClr val="9EEFBC"/>
                </a:solidFill>
                <a:latin typeface="Inter"/>
                <a:ea typeface="Inter"/>
                <a:cs typeface="Inter"/>
                <a:sym typeface="Inter"/>
              </a:rPr>
              <a:t>Користени технологии и ресурси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331</Words>
  <Application>Microsoft Office PowerPoint</Application>
  <PresentationFormat>Custom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Wingdings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</dc:creator>
  <cp:lastModifiedBy>Angel</cp:lastModifiedBy>
  <cp:revision>4</cp:revision>
  <dcterms:created xsi:type="dcterms:W3CDTF">2006-08-16T00:00:00Z</dcterms:created>
  <dcterms:modified xsi:type="dcterms:W3CDTF">2026-02-10T12:48:15Z</dcterms:modified>
</cp:coreProperties>
</file>